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ef122c3eea47d4" /><Relationship Type="http://schemas.openxmlformats.org/officeDocument/2006/relationships/extended-properties" Target="/docProps/app.xml" Id="R00afece890464584" /><Relationship Type="http://schemas.openxmlformats.org/officeDocument/2006/relationships/officeDocument" Target="/ppt/presentation.xml" Id="Rc8b06330b2644b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d1e9551b974d20"/>
  </p:sldMasterIdLst>
  <p:notesMasterIdLst>
    <p:notesMasterId xmlns:r="http://schemas.openxmlformats.org/officeDocument/2006/relationships" r:id="Rab416998dba342d5"/>
  </p:notesMasterIdLst>
  <p:sldIdLst>
    <p:sldId xmlns:r="http://schemas.openxmlformats.org/officeDocument/2006/relationships" id="256" r:id="Ra63b78ffc5f9487b"/>
    <p:sldId xmlns:r="http://schemas.openxmlformats.org/officeDocument/2006/relationships" id="257" r:id="Rb9add77a16b44904"/>
    <p:sldId xmlns:r="http://schemas.openxmlformats.org/officeDocument/2006/relationships" id="258" r:id="R2cc051eb9a7d462e"/>
    <p:sldId xmlns:r="http://schemas.openxmlformats.org/officeDocument/2006/relationships" id="259" r:id="Rcb1e3bc6abec422b"/>
    <p:sldId xmlns:r="http://schemas.openxmlformats.org/officeDocument/2006/relationships" id="260" r:id="Ra7f8a28f32fc403c"/>
    <p:sldId xmlns:r="http://schemas.openxmlformats.org/officeDocument/2006/relationships" id="261" r:id="Rc6b1d242f9704a9e"/>
    <p:sldId xmlns:r="http://schemas.openxmlformats.org/officeDocument/2006/relationships" id="262" r:id="R657169a0986941da"/>
    <p:sldId xmlns:r="http://schemas.openxmlformats.org/officeDocument/2006/relationships" id="263" r:id="R3444760ca75c47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1e9551b974d20" /><Relationship Type="http://schemas.openxmlformats.org/officeDocument/2006/relationships/theme" Target="/ppt/theme/theme1.xml" Id="Rcd6c8746b2bb4c3f" /><Relationship Type="http://schemas.openxmlformats.org/officeDocument/2006/relationships/notesMaster" Target="/ppt/notesMasters/notesMaster1.xml" Id="Rab416998dba342d5" /><Relationship Type="http://schemas.openxmlformats.org/officeDocument/2006/relationships/presProps" Target="/ppt/presProps.xml" Id="R58b2fc4d4999425f" /><Relationship Type="http://schemas.openxmlformats.org/officeDocument/2006/relationships/viewProps" Target="/ppt/viewProps.xml" Id="R78c6323b9d4e4ea7" /><Relationship Type="http://schemas.openxmlformats.org/officeDocument/2006/relationships/tableStyles" Target="/ppt/tableStyles.xml" Id="Re38660056894427b" /><Relationship Type="http://schemas.openxmlformats.org/officeDocument/2006/relationships/slide" Target="/ppt/slides/slide1.xml" Id="Ra63b78ffc5f9487b" /><Relationship Type="http://schemas.openxmlformats.org/officeDocument/2006/relationships/slide" Target="/ppt/slides/slide2.xml" Id="Rb9add77a16b44904" /><Relationship Type="http://schemas.openxmlformats.org/officeDocument/2006/relationships/slide" Target="/ppt/slides/slide3.xml" Id="R2cc051eb9a7d462e" /><Relationship Type="http://schemas.openxmlformats.org/officeDocument/2006/relationships/slide" Target="/ppt/slides/slide4.xml" Id="Rcb1e3bc6abec422b" /><Relationship Type="http://schemas.openxmlformats.org/officeDocument/2006/relationships/slide" Target="/ppt/slides/slide5.xml" Id="Ra7f8a28f32fc403c" /><Relationship Type="http://schemas.openxmlformats.org/officeDocument/2006/relationships/slide" Target="/ppt/slides/slide6.xml" Id="Rc6b1d242f9704a9e" /><Relationship Type="http://schemas.openxmlformats.org/officeDocument/2006/relationships/slide" Target="/ppt/slides/slide7.xml" Id="R657169a0986941da" /><Relationship Type="http://schemas.openxmlformats.org/officeDocument/2006/relationships/slide" Target="/ppt/slides/slide8.xml" Id="R3444760ca75c47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6df8daeb75d4b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9b62bf151f4e4f" /><Relationship Type="http://schemas.openxmlformats.org/officeDocument/2006/relationships/notesMaster" Target="/ppt/notesMasters/notesMaster1.xml" Id="Rf586fa504bc246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8f125ca910418f" /><Relationship Type="http://schemas.openxmlformats.org/officeDocument/2006/relationships/notesMaster" Target="/ppt/notesMasters/notesMaster1.xml" Id="R21caba9fe6e849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b8875b0e8143dd" /><Relationship Type="http://schemas.openxmlformats.org/officeDocument/2006/relationships/notesMaster" Target="/ppt/notesMasters/notesMaster1.xml" Id="R655dc9044cf74f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4f9b9698a5459e" /><Relationship Type="http://schemas.openxmlformats.org/officeDocument/2006/relationships/notesMaster" Target="/ppt/notesMasters/notesMaster1.xml" Id="Rff801210582e49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76e9f23d7c42f0" /><Relationship Type="http://schemas.openxmlformats.org/officeDocument/2006/relationships/notesMaster" Target="/ppt/notesMasters/notesMaster1.xml" Id="R86d9a64199794f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622df2d57d49ea" /><Relationship Type="http://schemas.openxmlformats.org/officeDocument/2006/relationships/notesMaster" Target="/ppt/notesMasters/notesMaster1.xml" Id="Rf9ede6fdc7f340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694c77f5174b07" /><Relationship Type="http://schemas.openxmlformats.org/officeDocument/2006/relationships/notesMaster" Target="/ppt/notesMasters/notesMaster1.xml" Id="Ref96ea04682149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8cb9b655e24801" /><Relationship Type="http://schemas.openxmlformats.org/officeDocument/2006/relationships/notesMaster" Target="/ppt/notesMasters/notesMaster1.xml" Id="R1fbd4bce08c74e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1dc1c8e2f405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56124cf79c943a8" /><Relationship Type="http://schemas.openxmlformats.org/officeDocument/2006/relationships/slideLayout" Target="/ppt/slideLayouts/slideLayout2.xml" Id="R1ddf6f2c2cbc41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df6f2c2cbc41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3617298a2045ce" /><Relationship Type="http://schemas.openxmlformats.org/officeDocument/2006/relationships/notesSlide" Target="/ppt/notesSlides/notesSlide1.xml" Id="R505636bae2544c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d65ce8f26b46e7" /><Relationship Type="http://schemas.openxmlformats.org/officeDocument/2006/relationships/notesSlide" Target="/ppt/notesSlides/notesSlide2.xml" Id="Rbc1d25ececc64b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712f39e75e4980" /><Relationship Type="http://schemas.openxmlformats.org/officeDocument/2006/relationships/notesSlide" Target="/ppt/notesSlides/notesSlide3.xml" Id="R9ad29ac1cfda4f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b62f0d60f24524" /><Relationship Type="http://schemas.openxmlformats.org/officeDocument/2006/relationships/notesSlide" Target="/ppt/notesSlides/notesSlide4.xml" Id="R62e977e2281049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2c6b40c8b7489f" /><Relationship Type="http://schemas.openxmlformats.org/officeDocument/2006/relationships/notesSlide" Target="/ppt/notesSlides/notesSlide5.xml" Id="R7b51d2e278844b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27590166d74c79" /><Relationship Type="http://schemas.openxmlformats.org/officeDocument/2006/relationships/notesSlide" Target="/ppt/notesSlides/notesSlide6.xml" Id="Rd9d645bc9a0a42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c55ae44d124e8f" /><Relationship Type="http://schemas.openxmlformats.org/officeDocument/2006/relationships/notesSlide" Target="/ppt/notesSlides/notesSlide7.xml" Id="R81ef49645dc440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b1f8c9ff524a7b" /><Relationship Type="http://schemas.openxmlformats.org/officeDocument/2006/relationships/notesSlide" Target="/ppt/notesSlides/notesSlide8.xml" Id="R12ef07d7e64941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34C56E-E660-4E66-907F-9A0DD223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A3869-2433-4496-AA8E-EFE051EE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67EDC-CE20-48E5-AC62-B0AF6F20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3EB6C-BE5E-4983-8545-7699822C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33E52-43ED-4222-89BA-DFC62CDA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EMBASSY MANAGEMENT ERPNext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AD24F-06D6-43B9-9D56-506BDFD7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Reusable consular operations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5970B-645C-44C2-8F45-E0FED8DE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B3A"/>
                </a:solidFill>
                <a:latin typeface="Georgia"/>
                <a:ea typeface="Georgia"/>
                <a:cs typeface="Georgia"/>
              </a:defRPr>
            </a:pPr>
            <a:r>
              <a:rPr sz="2925" b="1">
                <a:solidFill>
                  <a:srgbClr val="102B3A"/>
                </a:solidFill>
                <a:latin typeface="Georgia"/>
                <a:ea typeface="Georgia"/>
                <a:cs typeface="Georgia"/>
              </a:rPr>
              <a:t>A configurable mission platform for applications, appointments, documents, fees, and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4A6E4-328E-47D0-AD73-BF6D9975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638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Built on ERPNext and Frappe without modifying core. Designed for any embassy, high commission, consulate, or diplomatic mission.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1D3C5-3C14-441D-A87B-1E74249D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23950"/>
            <a:ext cx="2781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9E0B0-3C87-45A3-9A84-9D452C6B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38300"/>
            <a:ext cx="1828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E6B6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3A275-540F-4133-A2D2-1AC58008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9080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E6B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FF522-279F-4054-A859-7AE60ACA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51F0D-9DEE-4B15-BB3C-C0CEF5A8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719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144870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144870"/>
                </a:solidFill>
                <a:latin typeface="Georgia"/>
                <a:ea typeface="Georgia"/>
                <a:cs typeface="Georgia"/>
              </a:rPr>
              <a:t>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BDEBD-7C5E-4F3D-B888-98B5AAF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9903C-D09D-4906-9C65-C047BFD9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A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02B3A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F22C1-C392-4767-AAFB-36B17FF8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ERPNEXT/FRAPPE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2D0DC1-F241-4233-867B-9B98B0CD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version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61B5D3-9BBD-4B2E-91E0-F9CB52DC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1970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310DD-3D94-4877-A9A4-D88608E7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006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A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02B3A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5F545-7D1D-475C-89EF-48627593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626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CORE EDITS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4A69B-2439-4E25-9EAA-098510B6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7531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upgrade-safe design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55BBE-37CA-4807-A24C-26001852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21970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1AA005-286F-4ED9-A8D5-209C6C55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006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A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02B3A"/>
                </a:solidFill>
                <a:latin typeface="Georgia"/>
                <a:ea typeface="Georgia"/>
                <a:cs typeface="Georgia"/>
              </a:rPr>
              <a:t>Any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623561-382A-42DA-BEFC-CFB8A1E4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626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MISSION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DA97CF-E80F-4EC6-8227-B134719E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7531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country and language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BF77CC-4A03-424C-B15E-E5368E6D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7F7BB1-BF90-4679-9B95-B02B3228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006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A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02B3A"/>
                </a:solidFill>
                <a:latin typeface="Georgia"/>
                <a:ea typeface="Georgia"/>
                <a:cs typeface="Georgia"/>
              </a:rPr>
              <a:t>24/7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C9900-35B9-4AF3-A003-8A8DF338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626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PORTAL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B57832-B20C-4DCB-A695-3982E45D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7531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public applicant 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CB6F2F-59DD-44F8-8C82-4A19F8C7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Embassy Management ERPNext | Powered by Viewertech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E4F9AA-774C-4746-8A5C-1E0F7E84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6B654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6B654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209672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1EBCD7-9F4E-4AD4-B2A6-1A98F5F1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D7CB2-7A95-4A6C-82CB-110C16FF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E124D-E88C-401C-9F71-A2D89E16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3521531-E4C3-48B1-A52E-86B2D244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7839001-6F92-434C-8A93-B91364B8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OPERATING 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94F49-1160-4422-B7A8-84AC2E8A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895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B3A"/>
                </a:solidFill>
                <a:latin typeface="Georgia"/>
                <a:ea typeface="Georgia"/>
                <a:cs typeface="Georgia"/>
              </a:rPr>
              <a:t>Consular teams need one configurable workflow, not a patchwork of forms and booking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FB9D6-F185-4E68-9283-1C6EDEC1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69CD8-D0DF-418E-86FB-8E032F1E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3260E-A673-448D-9918-E255EC28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Applicant friction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D9445-BB22-47A6-A5CD-2459F26A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800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Applicants need clear requirements, draft saving, document uploads, appointment booking, payment status, messages, and progress tracking in one place.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0FA52-6307-46E1-9B19-E4EEA176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3C695-6A9D-4A42-B1F0-04C266BE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87E05-6FA2-4D49-96A1-40D132F5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669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Officer visibility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23E54-0503-49C4-AF12-C2ED17FF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90800"/>
            <a:ext cx="2800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Officers need queues, service-specific review, document decisions, escalation, applicant communication, and auditable final decisions.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60126-796F-4D72-B149-87169170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15E61-1D09-4863-8C4A-28AF5E66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882DF-D4B1-4B05-9805-04FC0014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Finance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5269D-8A86-42BE-8ACC-099DC15F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90800"/>
            <a:ext cx="2800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Finance teams need ERPNext Sales Invoices, Payment Entries, fee rules, waivers, manual proof review, and revenue reporting without duplicate ledgers.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5EEEDE-8CA6-4890-A20B-DC976469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Reference patterns inform UX only; no country, city, policy, or embassy is hardcoded.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32337D-F664-4F29-A46C-912B0CF5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6B654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6B654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56607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AF2106-A930-463C-8F08-413DEE69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DD491-CB6E-459E-8BDC-733E1086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A0712-1CD2-4838-B26E-EF4EDF57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6F2C6A8-CF7E-49B5-912A-7D59DE38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3C671AE-086B-4874-AACA-C94430AA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B6E79-85FE-4572-BDB9-F1FC573D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895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B3A"/>
                </a:solidFill>
                <a:latin typeface="Georgia"/>
                <a:ea typeface="Georgia"/>
                <a:cs typeface="Georgia"/>
              </a:rPr>
              <a:t>ERPNext remains the system of record; Embassy Management adds the diplomatic workflow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39D94-E831-41C3-A9BE-577334CA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A7489-4323-4D92-AD51-AFBAC4C0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57425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4EC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7F4EC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6BB0F-76C8-4AD4-BFEC-3E7ECC67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28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ERPNext / Frappe 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F6EC9-77DD-48FE-8537-A4A75380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4790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Customer, Contact, Address, File, Communication, Company, Item, Sales Invoice, Payment Entry, Workflow, Role, Letter Head, Email Template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B4BB8-E34B-42E3-ABC4-F8D5FC9B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C69FA-FA47-49B3-8648-3363D247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24225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4EC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7F4E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47D81-CD4A-4851-878F-F014B619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95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Embassy extension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A73AF-3F70-4885-BE59-35660CFB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Embassy Settings, Consular Service, Consular Application, document review, appointments, fee rules, service-specific details, reports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A145F-495F-4DE2-9280-390649EC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FD24F-9DE6-456A-AD53-9FCBD530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91025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6B654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E6B654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B9156-472A-43B2-9C4C-CBC590DC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62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Public and Desk UX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F26A42-F55F-444E-82E5-1F9C27AF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8150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Applicant portal, requirements checker, application stepper, officer workbench, appointment calendar, finance dashboard, multilingual content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14FD95-7545-4AC8-A535-5CA0E566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381250"/>
            <a:ext cx="381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DEE72-D160-4E65-8A4D-CBC3FD3F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530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Upgrade-safe</a:t>
            </a:r>
          </a:p>
          <a:p xmlns:a="http://schemas.openxmlformats.org/drawingml/2006/main">
            <a:pPr algn="ctr">
              <a:defRPr sz="900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custom 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61286A-4E25-477C-8509-C474A36D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Embassy Management ERPNext | Powered by Viewertech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87B99D-2952-42E1-8B07-3F4E4F70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6B654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6B654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547986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375676-51C5-48A0-B203-76232209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D20FF-B942-4D55-B9D2-BB1EC539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42CDD-900E-4CBA-B7FB-0EF22BFB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953E5E5-1FE4-4D2F-827E-AFDF91A4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2EDF00-8770-4EAD-87E8-3E28ED36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APPLICANT JOURNEY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00184-FB4E-4E40-855A-3922E7D3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895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B3A"/>
                </a:solidFill>
                <a:latin typeface="Georgia"/>
                <a:ea typeface="Georgia"/>
                <a:cs typeface="Georgia"/>
              </a:rPr>
              <a:t>The public portal turns consular intake into a guided, auditable application journey.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817B7-7B58-4279-AD54-898EE7C4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60337-37A9-4622-806F-F4AEA1BD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71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6B654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E6B654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84DA1-F9C7-4217-BB6C-E542F513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Requirements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18713-F1B9-4965-B087-0BDFCD5F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194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45338-A89E-4095-8071-40F33C69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9555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085F9-2780-4502-8190-FF6D1010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571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6B654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E6B654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DDAF5-0A30-4237-A4A4-F5B48236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956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D3D19-A00D-4AFA-9DE1-2431A4E0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194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EACFF-E726-4B2C-BF43-5C49B05F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9555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60FFC-99FA-4280-9386-6BC13396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71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6B654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E6B654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5581E-7953-44F7-9F98-8B558DCA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956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83F06-4D81-4EC1-A0A9-6B9BD5BA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194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D0C1F4-C40C-430E-A652-4C804BC4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9555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F698C-9780-46F5-8FEA-9EDCA6D4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571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6B654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E6B654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65FF8-90AA-4C9C-9A82-E43EC3F1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956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Appointment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B4AC28-BA5A-4011-B412-55210702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194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E00AE0-C271-4260-80D6-A103F5B9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9555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C8F1B-E71D-4861-99BA-3DE2FFC7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571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6B654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E6B654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67E868-1552-489A-976F-E66895B0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956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Payment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FCA805-8F6F-4837-8B93-BF4E26CF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194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E21EDC-472B-4814-90D4-852CAF80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B4C2D1-D95E-4852-97DD-2A226621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571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6B654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E6B654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D11032-E797-4189-A4E0-E02B7726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290BAA-3B94-4D2B-9483-3B856D8F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194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FE18BD-ED29-4202-9A06-0A106FE0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9555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F2376F-66C8-479E-AB20-8EF7E444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571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6B654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E6B654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2F8350-7532-4C0E-94F6-5A6637A0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956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93F007-7DEB-45FB-A3C3-7DE52C01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B3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2B3A"/>
                </a:solidFill>
                <a:latin typeface="Georgia"/>
                <a:ea typeface="Georgia"/>
                <a:cs typeface="Georgia"/>
              </a:rPr>
              <a:t>Draft saving, required-field validation, conditional notices, secure upload links, appointment summaries, payment status, and final declaration lock all sit on configurable service templates.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5AC230-85DA-44C1-8AB8-06EE8A4A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Portal routes: /embassy, /embassy/requirements, /embassy/apply, /embassy/dashboard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22AB99-5551-435D-A51D-184F7510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6B654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6B654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8964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C168CE-87F2-4499-9FDA-CE59D00E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0E081-5ADC-4463-AC3F-6BA97F27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F4F21-16D6-4C3C-B1A1-7BA323D4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2BF640-614B-4193-A0ED-F556D5EA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5055A03-5E63-45A5-AA15-CB8856FE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CONFIGURABLE CATALOGUE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631D2-C830-44D1-BDDB-F090CB4F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895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B3A"/>
                </a:solidFill>
                <a:latin typeface="Georgia"/>
                <a:ea typeface="Georgia"/>
                <a:cs typeface="Georgia"/>
              </a:rPr>
              <a:t>Services, forms, fees, documents, and appointments are configuration, not 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9A89B-8D4F-4136-8C0E-245FECCC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E4FC2-E9ED-4D98-922F-E6BC1FCC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AC1CC-81EB-4E57-99EF-E801DD00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240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Consular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8AB3D-FE33-430E-9575-7F3F98A8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Service category, public visibility, appointment/payment/review flags, workflow, print format, email template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2F169-CF96-44DA-8411-F4F160EB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CA867-50A9-4BC3-B876-7AFEF709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B1D928-AC9F-47D5-9562-83EFD377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98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Form Template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442C7-A2A0-407F-8BA2-BC146338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Sections, fields, required flags, conditional visibility, declarations, progress and final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B958F-05E6-4192-8508-37D148BC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00197-9BEE-4960-8DCE-8F23551C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5721B-8D43-42B1-BD6D-B348F2D2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956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Rules 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BF437-B5A9-4B13-9D82-52F9AA82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861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Eligibility restrictions, fee calculation, important notices, document requirements, appointment triggers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E474C-D43C-499B-BAE9-10DE663C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CC047-8BF7-4334-999C-D2B73F28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E68214-7BE4-4F9C-A5AE-189E9018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814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Fee Rule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531186-EE2D-430D-834E-9BA87183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Service, visa type, nationality, residence, processing type, entry type, amount, currency, effective dates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10ED42-D0EB-46B7-B9F6-3A3E77F1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37EF22-4B60-410F-A021-DE8E787B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1C6D4-4A4A-421B-8CA6-65FE3164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672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Appointment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008662-58BE-4591-85B8-C505D259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Location, officer, date, time, capacity, public holiday exclusion, booking code and queue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34F89A-D7F1-4334-B24C-3FFA2431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Embassy Management ERPNext | Powered by Viewertech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03D8B7-A13E-4431-B3E6-41732F2C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6B654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6B654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7601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AA2077-BFD6-41EA-AE9B-8DCF08CD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07027-00F9-466B-8AA6-F1E0EFBE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A9BC3-D03E-47CB-8CDA-08789409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64783C9-846C-4424-ACB6-9350AAD2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D24C1B1-09B7-4A17-98F2-2FB9E63A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CONTROL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75B2E-379B-41C2-834D-A9AA5A42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895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B3A"/>
                </a:solidFill>
                <a:latin typeface="Georgia"/>
                <a:ea typeface="Georgia"/>
                <a:cs typeface="Georgia"/>
              </a:rPr>
              <a:t>Security and audit are designed around applicant isolation and officer accountability.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31A79-5755-4CBE-9894-B24B139C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82832-FAF6-4969-BA78-0F66D32B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B3A"/>
                </a:solidFill>
                <a:latin typeface="Aptos"/>
                <a:ea typeface="Aptos"/>
                <a:cs typeface="Aptos"/>
              </a:rPr>
              <a:t>Applicant sees only own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8A6A2-24DB-4968-81DB-1214A7E5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2993F-6D45-47B5-80FC-7FB40DD5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B3A"/>
                </a:solidFill>
                <a:latin typeface="Aptos"/>
                <a:ea typeface="Aptos"/>
                <a:cs typeface="Aptos"/>
              </a:rPr>
              <a:t>Private documents link to Frappe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8B67C-9188-4DFA-8FF1-466008B3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36019-C15F-42D8-B7E8-D3541F74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766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B3A"/>
                </a:solidFill>
                <a:latin typeface="Aptos"/>
                <a:ea typeface="Aptos"/>
                <a:cs typeface="Aptos"/>
              </a:rPr>
              <a:t>Privacy, terms, and declaration logged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91D3D-BEA1-42CC-B9E4-F9B092C0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17D3C-1B32-4EFB-83A2-7E677401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671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B3A"/>
                </a:solidFill>
                <a:latin typeface="Aptos"/>
                <a:ea typeface="Aptos"/>
                <a:cs typeface="Aptos"/>
              </a:rPr>
              <a:t>No public exposure of private uploads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82AA3-BC18-4B4D-B079-FBCB6D5B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52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1D51E-DDF3-4711-BC05-AE6D2496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55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B3A"/>
                </a:solidFill>
                <a:latin typeface="Aptos"/>
                <a:ea typeface="Aptos"/>
                <a:cs typeface="Aptos"/>
              </a:rPr>
              <a:t>Officer roles by queue and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0AA9E-4AA8-4651-9E77-6EB49210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9A62C-2BF6-49D4-B14E-E20B62E9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860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B3A"/>
                </a:solidFill>
                <a:latin typeface="Aptos"/>
                <a:ea typeface="Aptos"/>
                <a:cs typeface="Aptos"/>
              </a:rPr>
              <a:t>Supervisor escalation and approval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29D72E-EF33-4091-8B2E-D0248B9E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29077-AE0C-4AFA-810C-7AFE9DFB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766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B3A"/>
                </a:solidFill>
                <a:latin typeface="Aptos"/>
                <a:ea typeface="Aptos"/>
                <a:cs typeface="Aptos"/>
              </a:rPr>
              <a:t>Finance review over ERPNext accounting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D6461-2D5C-4F6E-BC76-34AAE2F9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24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556B8-584D-4EC7-9C05-7267CA66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671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B3A"/>
                </a:solidFill>
                <a:latin typeface="Aptos"/>
                <a:ea typeface="Aptos"/>
                <a:cs typeface="Aptos"/>
              </a:rPr>
              <a:t>Reports and dashboards by role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EACA35-59F9-4D73-A1AE-D67DF119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0025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18AAF8-C244-4873-B2CC-8E10C12A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57800"/>
            <a:ext cx="847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B3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B3A"/>
                </a:solidFill>
                <a:latin typeface="Georgia"/>
                <a:ea typeface="Georgia"/>
                <a:cs typeface="Georgia"/>
              </a:rPr>
              <a:t>Permission hooks, standard ERPNext records, and configurable workflows keep the extension reusable across missions while preserving auditability.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EE2378-707B-488A-93C6-666BC0CC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Embassy Management ERPNext | Powered by Viewertech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D3DAFC-98E6-49E8-960D-B1D8AADB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6B654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6B654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79828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7D0C4C-EDB4-4C71-A33F-7B583B7A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1004A-3B7A-4766-84C6-96F27BFD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DE9AD-EB8E-4428-9A0B-16431430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45F16BA-524D-4B52-A788-C3A964FE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518F4BF-5794-4899-AEB2-EA9D8F7C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DEPLOYMENT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82F39-0EE9-4F5E-9ACD-72DCC67F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895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B3A"/>
                </a:solidFill>
                <a:latin typeface="Georgia"/>
                <a:ea typeface="Georgia"/>
                <a:cs typeface="Georgia"/>
              </a:rPr>
              <a:t>The Ubuntu deployment path is scripted for repeatable pilot and production setup.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59BFD-84A2-4C40-9FA8-1D294188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Install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AD5E6-AA28-4CBD-9214-8BFB9789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907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Docker host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78B40-AF93-48E2-BD0A-FB8C3C56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288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70C6B-2464-4020-917D-0AEFEC5E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28850"/>
            <a:ext cx="3566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10E7D-1A06-41B7-8887-3151EA11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Create site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B4D0E-B0E7-47E0-9FC4-9546FE0E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765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ERPNext + app install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09CB45-D0C3-4E5D-86D5-9B263FBD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430A65-7CA8-40A5-AE07-AC29BB6F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435864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16F51-D9D7-418B-BA3A-48099AAF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Configure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3E6DC-1ABC-4D28-996B-8AABAA78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62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mission, services, forms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1A416-D136-43D6-9980-DEC99E07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935DA-969C-42FF-96EB-0E9E4A34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326898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8CC47-905D-4432-9522-ADBD4DDE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Operate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80361-0E0D-49FA-8976-EC3F3E58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481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backup, restore, 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E6409C-8360-49A8-BB44-DB31A12D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862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5DD92-1785-4F23-AF05-EEABABD3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86250"/>
            <a:ext cx="376428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004DB7-F994-406D-BC1B-7D3ACCB2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054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76200" tIns="47625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Default host port: 8091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41DFCB-A5B8-44F1-9BA2-62A67A87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Scripts mirror the Viewertech operational pattern: install, create-site, install-apps, repair-assets, backup, restore, update.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57DD8-D4FE-4E39-92A2-96084E54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6B654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6B654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224520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8E34E8-DA01-436B-ADB0-6172395C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41742-9774-4943-BAA0-B6B73B90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B398B-DE7B-4FE1-A90A-54FF8AE8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B31AD0B-D14F-4AB6-888B-00DB7103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F92F872-4A0D-4C51-B995-859E1A35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PILOT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97BA9-2171-4D06-9165-247DBA64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895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2B3A"/>
                </a:solidFill>
                <a:latin typeface="Georgia"/>
                <a:ea typeface="Georgia"/>
                <a:cs typeface="Georgia"/>
              </a:rPr>
              <a:t>A safe pilot proves the workflow before official branding, payment gateways, and final policy rules go live.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43665-A06B-4F47-983D-26113742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D78B0-9786-447E-972D-9C6D800F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20152-2C98-414A-A37F-9AAC88C3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1. Configure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9A654-FEF8-4382-B814-49BECF44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6098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Embassy Settings, services, language, branding placeholders, document requirements, fees, appointment slots, and workflows.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02937-AACA-4E56-A69A-5122AEF0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7645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08DB6-2DDD-48A6-B578-3D46BEA8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764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0D431-784C-4E51-AAB8-E846A5A3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479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2.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3878D-4AE8-454E-AF1E-B50BB22E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71750"/>
            <a:ext cx="26098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Applicant portal, document upload, appointment booking, payment review, officer workbench, reports, and role isolation.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B33F6-845E-44E8-BE46-7D5804DA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3790B-C265-46ED-A9EC-535A90AB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19891-7CAF-49A0-8C04-29F4D98A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479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A"/>
                </a:solidFill>
                <a:latin typeface="Aptos"/>
                <a:ea typeface="Aptos"/>
                <a:cs typeface="Aptos"/>
              </a:rPr>
              <a:t>3. Govern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6513B-6338-41F5-9947-1B0495A4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26098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Approve privacy text, declaration, official assets, backup and restore, data retention, and production go-live checklist.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7AB3E-E6B1-423F-80C5-997174A6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Generic sample data is removable and does not imply official government approval.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EF66C-2E8A-4AE0-AD3C-DAC757E0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6B654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6B654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7464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2026-05-16T20:41:47.4710000Z</dcterms:created>
  <dcterms:modified xsi:type="dcterms:W3CDTF">2026-05-16T20:41:47.4710000Z</dcterms:modified>
</coreProperties>
</file>